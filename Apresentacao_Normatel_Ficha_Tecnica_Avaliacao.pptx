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2377440"/>
            <a:ext cx="5486400" cy="5486400"/>
          </a:xfrm>
          <a:prstGeom prst="ellipse">
            <a:avLst/>
          </a:prstGeom>
          <a:solidFill>
            <a:srgbClr val="2FA87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4572000" cy="4572000"/>
          </a:xfrm>
          <a:prstGeom prst="ellipse">
            <a:avLst/>
          </a:prstGeom>
          <a:solidFill>
            <a:srgbClr val="2FA87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GESTÃO INTEGRADA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Técnica de Avaliação de Serviços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para padronização, controle e aprovação de avaliações técnicas de serviços de engenharia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NORMATEL ENGENHARIA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 POR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57332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Durão Senos de Campos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9846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57332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Serafim da Cruz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599846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Sistema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do sistema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em uma plataforma digital o preenchimento, o acompanhamento e a aprovação das Fichas Técnicas de Avaliação de Serviços da Normatel Engenharia, substituindo o controle manual por um fluxo estruturado e auditável.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2492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3660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236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17436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que resolve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3660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o preenchimento em papel ou planilhas soltas, a perda de anexos (fotos, GPS, assinaturas), a falta de padronização entre equipes e a ausência de visibilidade gerencial sobre cada avaliação.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Público-alvo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técnicas e operacionais de campo responsáveis pelas avaliações, além de coordenadores e administradores responsáveis pela aprovação e pela gestão de acessos.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2492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3660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4" name="Text 22"/>
          <p:cNvSpPr/>
          <p:nvPr/>
        </p:nvSpPr>
        <p:spPr>
          <a:xfrm>
            <a:off x="642366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17436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benefícios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3660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total do processo, funcionamento garantido sem internet, rastreabilidade completa de cada solicitação, geração automática de PDF e controle de acesso por papel e projeto.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Necessidade da Implantação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587496" cy="4572000"/>
          </a:xfrm>
          <a:prstGeom prst="roundRect">
            <a:avLst>
              <a:gd name="adj" fmla="val 1784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1746504"/>
            <a:ext cx="272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atual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318516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técnicas de serviço tradicionalmente dependem de registros manuais, com informações dispersas entre papel, planilhas e mensagens de campo, dificultando a consolidação de indicadores e a auditoria dos processos.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00728" y="1600200"/>
            <a:ext cx="3587496" cy="4572000"/>
          </a:xfrm>
          <a:prstGeom prst="roundRect">
            <a:avLst>
              <a:gd name="adj" fmla="val 1784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1896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4501896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95672" y="1746504"/>
            <a:ext cx="272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Necessidade da implantação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1896" y="2295144"/>
            <a:ext cx="318516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Normatel Engenharia precisa de um processo único e padronizado para registrar necessidades de execução, evidências fotográficas, localização GPS e assinatura digital de responsabilidade técnica, com fluxo de aprovação formal.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44256" y="1600200"/>
            <a:ext cx="3587496" cy="4572000"/>
          </a:xfrm>
          <a:prstGeom prst="roundRect">
            <a:avLst>
              <a:gd name="adj" fmla="val 1784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45424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9" name="Text 17"/>
          <p:cNvSpPr/>
          <p:nvPr/>
        </p:nvSpPr>
        <p:spPr>
          <a:xfrm>
            <a:off x="8345424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39200" y="1746504"/>
            <a:ext cx="272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 encontrados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45424" y="2295144"/>
            <a:ext cx="318516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de campo frequentemente operam em locais sem conectividade estável. A solução precisa preservar os dados localmente e sincronizar automaticamente quando a conexão for restabelecida, sem perda de informação.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do Projeto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GERAL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e implantar uma plataforma web progressiva (PWA) para gestão integrada de fichas técnicas de avaliação de serviços, com funcionamento offline-first e sincronização automática em nuvem.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2666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2971800"/>
            <a:ext cx="5198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o formulário de avaliação técnica em etapas guiadas (stepper).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23076" y="302666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6323076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1988" y="2971800"/>
            <a:ext cx="4969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captura de fotos, localização GPS e assinatura digital em campo.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2102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" y="3566160"/>
            <a:ext cx="5198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histórico pesquisável com filtros por status e projeto.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3076" y="362102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0" name="Text 18"/>
          <p:cNvSpPr/>
          <p:nvPr/>
        </p:nvSpPr>
        <p:spPr>
          <a:xfrm>
            <a:off x="6323076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1988" y="3566160"/>
            <a:ext cx="4969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fluxo de aprovação com status controlados (Rascunho, Enviado, Em Análise, Aprovado, Reprovado).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21538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6112" y="4160520"/>
            <a:ext cx="5198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controle de acesso por papéis e permissões granulares por módulo.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23076" y="421538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6" name="Text 24"/>
          <p:cNvSpPr/>
          <p:nvPr/>
        </p:nvSpPr>
        <p:spPr>
          <a:xfrm>
            <a:off x="6323076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61988" y="4160520"/>
            <a:ext cx="4969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uso contínuo do sistema mesmo sem conexão à internet.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e Experiência do Usuário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1645920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com TypeScript, estruturado como Single Page Application (SPA).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16352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542032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ferramentas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2542032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 como bundler e servidor de desenvolvimento; TypeScript (tsc); oxlint para análise estática.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438144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e bibliotecas de UI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3438144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(tema escuro verde/branco); Framer Motion para animações; React Router DOM v7 com lazy loading.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34256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608576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08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4334256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Gerenciamento de estado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31920" y="4334256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Zustand, com módulos independentes por domínio (autenticação, formulários, usuários, cargos, configurações).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230368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504688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504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5230368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Web App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931920" y="5230368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vite-plugin-pwa, com Service Worker, manifesto de instalação e cache via Workbox.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Backend, Dados e Infraestrutura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4556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455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28346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Persistência local (offline)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1645920"/>
            <a:ext cx="7799832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via biblioteca idb, mantendo os dados no dispositivo até a sincronização.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92680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9232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923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392680"/>
            <a:ext cx="28346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 em nuvem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2392680"/>
            <a:ext cx="7799832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(PostgreSQL), com Row Level Security habilitada.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39440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3908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39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139440"/>
            <a:ext cx="28346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Armazenamento de arquivos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3139440"/>
            <a:ext cx="7799832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Storage, com buckets para anexos de formulários e configurações de identidade visual.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8584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858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3886200"/>
            <a:ext cx="28346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 de documentos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31920" y="3886200"/>
            <a:ext cx="7799832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para exportação de relatórios técnicos em PDF; html2canvas como suporte.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632960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83260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326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4632960"/>
            <a:ext cx="28346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e segurança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931920" y="4632960"/>
            <a:ext cx="7799832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API para hashing de senhas (SHA-256 com salt), sem serviços externos.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379720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57936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5793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0120" y="5379720"/>
            <a:ext cx="2834640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Hospedagem e distribuição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931920" y="5379720"/>
            <a:ext cx="7799832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instalável (PWA), compatível com hospedagem estática, com cache local via Service Worker.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Sistema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1508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15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6002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Explicação da arquitetura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1600200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offline-first: cada interação é gravada primeiro localmente (IndexedDB) e replicada à nuvem (Supabase) quando há conexão. SPA em camadas de interface, estado, dados e sincronização.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9232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923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377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das informações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2377440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preenchido em etapas, rascunho salvo localmente, envio grava no IndexedDB e entra na fila de sincronização, com replicação automática ao Supabase quando on-line.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6956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695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154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entre componentes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3154680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consome e atualiza os stores Zustand; os stores acionam as funções de acesso a dados locais e as funções de sincronização com a API do Supabase.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CAMADAS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2035454" cy="1417320"/>
          </a:xfrm>
          <a:prstGeom prst="roundRect">
            <a:avLst>
              <a:gd name="adj" fmla="val 3871"/>
            </a:avLst>
          </a:prstGeom>
          <a:solidFill>
            <a:srgbClr val="131F19"/>
          </a:solidFill>
          <a:ln w="12700">
            <a:solidFill>
              <a:srgbClr val="2FA8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4480560"/>
            <a:ext cx="192572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92654" y="5189220"/>
            <a:ext cx="274320" cy="0"/>
          </a:xfrm>
          <a:prstGeom prst="line">
            <a:avLst/>
          </a:prstGeom>
          <a:noFill/>
          <a:ln w="25400">
            <a:solidFill>
              <a:srgbClr val="2FA87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766974" y="4480560"/>
            <a:ext cx="2035454" cy="1417320"/>
          </a:xfrm>
          <a:prstGeom prst="roundRect">
            <a:avLst>
              <a:gd name="adj" fmla="val 3871"/>
            </a:avLst>
          </a:prstGeom>
          <a:solidFill>
            <a:srgbClr val="131F19"/>
          </a:solidFill>
          <a:ln w="12700">
            <a:solidFill>
              <a:srgbClr val="2FA8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21838" y="4480560"/>
            <a:ext cx="192572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(Zustand)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2429" y="5189220"/>
            <a:ext cx="274320" cy="0"/>
          </a:xfrm>
          <a:prstGeom prst="line">
            <a:avLst/>
          </a:prstGeom>
          <a:noFill/>
          <a:ln w="25400">
            <a:solidFill>
              <a:srgbClr val="2FA87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76749" y="4480560"/>
            <a:ext cx="2035454" cy="1417320"/>
          </a:xfrm>
          <a:prstGeom prst="roundRect">
            <a:avLst>
              <a:gd name="adj" fmla="val 3871"/>
            </a:avLst>
          </a:prstGeom>
          <a:solidFill>
            <a:srgbClr val="131F19"/>
          </a:solidFill>
          <a:ln w="12700">
            <a:solidFill>
              <a:srgbClr val="2FA8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1613" y="4480560"/>
            <a:ext cx="192572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12203" y="5189220"/>
            <a:ext cx="274320" cy="0"/>
          </a:xfrm>
          <a:prstGeom prst="line">
            <a:avLst/>
          </a:prstGeom>
          <a:noFill/>
          <a:ln w="25400">
            <a:solidFill>
              <a:srgbClr val="2FA87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86523" y="4480560"/>
            <a:ext cx="2035454" cy="1417320"/>
          </a:xfrm>
          <a:prstGeom prst="roundRect">
            <a:avLst>
              <a:gd name="adj" fmla="val 3871"/>
            </a:avLst>
          </a:prstGeom>
          <a:solidFill>
            <a:srgbClr val="131F19"/>
          </a:solidFill>
          <a:ln w="12700">
            <a:solidFill>
              <a:srgbClr val="2FA8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41387" y="4480560"/>
            <a:ext cx="192572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421978" y="5189220"/>
            <a:ext cx="274320" cy="0"/>
          </a:xfrm>
          <a:prstGeom prst="line">
            <a:avLst/>
          </a:prstGeom>
          <a:noFill/>
          <a:ln w="25400">
            <a:solidFill>
              <a:srgbClr val="2FA87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96298" y="4480560"/>
            <a:ext cx="2035454" cy="1417320"/>
          </a:xfrm>
          <a:prstGeom prst="roundRect">
            <a:avLst>
              <a:gd name="adj" fmla="val 3871"/>
            </a:avLst>
          </a:prstGeom>
          <a:solidFill>
            <a:srgbClr val="131F19"/>
          </a:solidFill>
          <a:ln w="12700">
            <a:solidFill>
              <a:srgbClr val="2FA8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51162" y="4480560"/>
            <a:ext cx="192572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4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(nuvem)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Funcionamento Offline-First e Sincronização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21894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18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283464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1645920"/>
            <a:ext cx="779983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Supabase configurado, o sistema opera 100% local, mantendo formulários, usuários e configurações no IndexedDB. Com a integração ativa, cada envio é automaticamente enfileirado.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39440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139440"/>
            <a:ext cx="283464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de sincronização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139440"/>
            <a:ext cx="779983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listener de eventos de rede monitora online/offline; ao reconectar, a fila é processada automaticamente via upsert ao Supabase; um ciclo adicional roda a cada 60 segundos.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32960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20598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205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632960"/>
            <a:ext cx="283464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visíveis ao usuário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4632960"/>
            <a:ext cx="779983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barra lateral exibe em tempo real o status de conexão e a quantidade de formulários pendentes de sincronização.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e Controle de Acesso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login, cadastro de novos usuários e recuperação de senha, controlando o acesso conforme o papel de cada colaborador.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2492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3660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236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17436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3660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e-mail e senha (hash SHA-256 com salt); bloqueia usuários inativos automaticamente; recuperação por código temporário válido por 15 minutos; sessão opcional via "lembrar-me".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senhas em texto puro, impede acesso de contas desativadas e garante rastreabilidade de quem preenche cada avaliação.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2492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3660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4" name="Text 22"/>
          <p:cNvSpPr/>
          <p:nvPr/>
        </p:nvSpPr>
        <p:spPr>
          <a:xfrm>
            <a:off x="642366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17436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para o usuário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3660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 e seguro, com rotas protegidas que redirecionam automaticamente usuários não autenticados.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Técnica — Etapa 1: Informações Gerais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etapa do formulário guiado, com os dados básicos da solicitação e da avaliação de serviço.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306824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06824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Responsável, Data da Avaliação, Tempo Estimado, Nº da Solicitação, Equipe Necessária e Local da Atividade, com rascunho automático.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156448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e impacto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56448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 a identificação da solicitação e reduz erros com uma interface objetiva e guiada.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274552" cy="3474720"/>
          </a:xfrm>
          <a:prstGeom prst="roundRect">
            <a:avLst>
              <a:gd name="adj" fmla="val 2105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pic>
        <p:nvPicPr>
          <p:cNvPr id="14" name="Image 0" descr="img/formulario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3026664"/>
            <a:ext cx="10981944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Técnica — Etapa 2: Necessidades da Execução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Registra, por campos condicionais Sim/Não, os recursos e agendamentos necessários à execução do serviço.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306824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06824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PEMT, limpeza e comunicações; agendamentos (visita técnica, andaime, munck, veículo, LIBRA, AR2, desligamentos); apoios descritivos.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156448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e impacto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56448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completo e padronizado das necessidades operacionais, reduzindo retrabalho e imprevistos.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274552" cy="3474720"/>
          </a:xfrm>
          <a:prstGeom prst="roundRect">
            <a:avLst>
              <a:gd name="adj" fmla="val 2105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pic>
        <p:nvPicPr>
          <p:cNvPr id="14" name="Image 0" descr="img/formulario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3026664"/>
            <a:ext cx="10981944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Técnica — Etapa 3: Apoio e Anexos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apoio necessário, registro fotográfico, localização GPS e assinatura digital da avaliação.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306824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06824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ou captura pela câmera; GPS com latitude, longitude e precisão; assinatura em campo de desenho; observações livres.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156448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e impacto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56448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evidência visual, geográfica e responsabilidade formal, tudo dentro do próprio fluxo.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274552" cy="3474720"/>
          </a:xfrm>
          <a:prstGeom prst="roundRect">
            <a:avLst>
              <a:gd name="adj" fmla="val 2105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pic>
        <p:nvPicPr>
          <p:cNvPr id="14" name="Image 0" descr="img/formulario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3026664"/>
            <a:ext cx="10981944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Técnica — Etapa 4: Revisão e Envio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as informações preenchidas nas etapas anteriores em uma tela única de conferência.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306824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06824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de Informações Gerais, Necessidades e Anexos; permite voltar antes de confirmar o envio, que muda o status para "Enviado".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156448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e impacto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56448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erros de submissão e garante confiança antes de seguir para análise e aprovação.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274552" cy="3474720"/>
          </a:xfrm>
          <a:prstGeom prst="roundRect">
            <a:avLst>
              <a:gd name="adj" fmla="val 2105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pic>
        <p:nvPicPr>
          <p:cNvPr id="14" name="Image 0" descr="img/revisa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3026664"/>
            <a:ext cx="10981944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Histórico de Formulários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pesquisar, filtrar e acompanhar o status de todas as fichas técnicas já criadas.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306824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06824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responsável, local ou nº da solicitação; filtros por status e, para administradores, por projeto; listagem paginada.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156448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e impacto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56448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total do ciclo de vida de cada avaliação, facilitando auditorias e consultas.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274552" cy="3474720"/>
          </a:xfrm>
          <a:prstGeom prst="roundRect">
            <a:avLst>
              <a:gd name="adj" fmla="val 2105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pic>
        <p:nvPicPr>
          <p:cNvPr id="14" name="Image 0" descr="img/histori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3026664"/>
            <a:ext cx="10981944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Detalhe do Formulário e Fluxo de Aprovação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a visão completa de uma ficha técnica e permite movimentar seu status ao longo do fluxo de aprovação.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2492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3660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236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17436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3660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Administradores transicionam o status entre Enviado, Em Análise, Aprovado e Reprovado; edição só é permitida em Rascunho, pelo autor ou administrador; exclusão restrita por papel; Visualizador tem acesso somente leitura.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 um processo de aprovação claro e auditável, com regras de permissão bem definidas em cada etapa.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2492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3660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4" name="Text 22"/>
          <p:cNvSpPr/>
          <p:nvPr/>
        </p:nvSpPr>
        <p:spPr>
          <a:xfrm>
            <a:off x="642366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17436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para o usuário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3660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total sobre em que fase do processo cada avaliação técnica se encontra.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Exportação de Relatório em PDF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automaticamente um relatório técnico em PDF a partir dos dados de qualquer ficha de avaliação.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2492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3660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236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17436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3660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montado dinamicamente com jsPDF: cabeçalho com a logo da Normatel, selo de status, dados gerais em colunas, necessidades, apoio e observações, localização GPS, assinatura digital e grade de imagens anexadas, com paginação automática.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a montagem manual de relatórios, padronizando a apresentação de todas as avaliações técnicas.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2492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3660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4" name="Text 22"/>
          <p:cNvSpPr/>
          <p:nvPr/>
        </p:nvSpPr>
        <p:spPr>
          <a:xfrm>
            <a:off x="642366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17436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para o usuário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3660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profissional, pronto para impressão ou arquivamento, gerado com um único clique.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Administração de Usuários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ao administrador gerenciar todas as contas de acesso ao sistema.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306824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06824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papel (Administrador, Operador, Visualizador), cargo e projeto; edição, ativação/desativação, reset de senha e exclusão controlada.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156448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e impacto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56448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centralizado de acessos, com gestão de equipe simples e visual em uma única tela.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274552" cy="3474720"/>
          </a:xfrm>
          <a:prstGeom prst="roundRect">
            <a:avLst>
              <a:gd name="adj" fmla="val 2105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pic>
        <p:nvPicPr>
          <p:cNvPr id="14" name="Image 0" descr="img/usuari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3026664"/>
            <a:ext cx="10981944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Administração de Cargos e Permissões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criar cargos personalizados e vincular a cada um permissões granulares por módulo e ação do sistema.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2492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3660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236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17436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3660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cargo tem nome, descrição, cor e ícone; permissões organizadas por módulo (Dashboard, Formulários, Histórico, Usuários, Administração) e por ação específica; cargos podem ser duplicados; cargos do sistema ou em uso não podem ser excluídos.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total para adequar o nível de acesso a diferentes funções operacionais, sem alterar o código do sistema.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2492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3660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4" name="Text 22"/>
          <p:cNvSpPr/>
          <p:nvPr/>
        </p:nvSpPr>
        <p:spPr>
          <a:xfrm>
            <a:off x="642366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17436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para o usuário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3660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colaborador enxerga e executa apenas o que é pertinente à sua função, com segurança e clareza.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Configurações e Identidade Visual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personalizar a identidade visual do sistema e acompanhar o status da integração com o banco de dados em nuvem.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2492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3660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236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17436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3660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 logo da empresa e definição do nome, refletidos imediatamente em toda a aplicação; painel de status indicando se o Supabase está ativo ou se o sistema opera em modo local/offline.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com identidade visual adaptável (white-label), reaproveitável para diferentes operações ou unidades da empresa.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2492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3660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4" name="Text 22"/>
          <p:cNvSpPr/>
          <p:nvPr/>
        </p:nvSpPr>
        <p:spPr>
          <a:xfrm>
            <a:off x="642366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17436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para o usuário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3660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clara e imediata do estado da sincronização, sem necessidade de suporte técnico.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DO USUÁRIO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do Usuário — Passo a Passo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4650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1691640"/>
            <a:ext cx="51983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o sistema e realiza login com e-mail e senha (ou solicita recuperação, se necessário).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3076" y="174650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1" name="Text 9"/>
          <p:cNvSpPr/>
          <p:nvPr/>
        </p:nvSpPr>
        <p:spPr>
          <a:xfrm>
            <a:off x="6323076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1988" y="1691640"/>
            <a:ext cx="49697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o Dashboard com os indicadores gerais das fichas técnicas.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42616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2587752"/>
            <a:ext cx="51983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uma nova avaliação em "Novo Formulário".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23076" y="2642616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7" name="Text 15"/>
          <p:cNvSpPr/>
          <p:nvPr/>
        </p:nvSpPr>
        <p:spPr>
          <a:xfrm>
            <a:off x="6323076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1988" y="2587752"/>
            <a:ext cx="49697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a Etapa 1 com as informações gerais da solicitação.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538728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3483864"/>
            <a:ext cx="51983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na Etapa 2 as necessidades de execução aplicáveis.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23076" y="3538728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3" name="Text 21"/>
          <p:cNvSpPr/>
          <p:nvPr/>
        </p:nvSpPr>
        <p:spPr>
          <a:xfrm>
            <a:off x="6323076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61988" y="3483864"/>
            <a:ext cx="49697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Anexa fotos, GPS e assinatura digital na Etapa 3.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112" y="4379976"/>
            <a:ext cx="51983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todos os dados na Etapa 4 e confirma o envio.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23076" y="4434840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9" name="Text 27"/>
          <p:cNvSpPr/>
          <p:nvPr/>
        </p:nvSpPr>
        <p:spPr>
          <a:xfrm>
            <a:off x="6323076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61988" y="4379976"/>
            <a:ext cx="49697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o formulário no Histórico até sua aprovação ou reprovação.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5330952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5330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6112" y="5276088"/>
            <a:ext cx="51983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a ficha em PDF a partir da tela de detalhe, quando necessário.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 Controle de Acesso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1645920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nunca armazenadas em texto puro — hashing SHA-256 combinado a um salt aleatório, via Web Crypto API.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16352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542032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Permissões e RBAC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2542032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papéis nativos (Administrador, Operador, Visualizador) combinados a cargos customizáveis; rotas protegidas por RequireAuth e RequireRole.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438144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por projeto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3438144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não administradores acessam apenas dados do seu projeto; operadores só veem os formulários que criaram.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34256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608576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08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4334256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Proteção dos dados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31920" y="4334256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habilitada no Supabase; recuperação de senha por código temporário com expiração de 15 minutos.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230368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504688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504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5230368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Outros mecanismos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931920" y="5230368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automático de contas inativas no login; impedimento de autoexclusão e autodesativação da própria conta.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Local (IndexedDB)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27990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79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283464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utilizada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1737360"/>
            <a:ext cx="7799832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local IndexedDB ("gestao-integrada"), gerenciado pela biblioteca idb, com persistência mesmo sem internet.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69920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169920"/>
            <a:ext cx="283464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dos dados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169920"/>
            <a:ext cx="7799832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Coleções dedicadas: formulários (índices por data e status), usuários (índice único por e-mail), credenciais, recuperação de senha, cargos, funções/permissões, configurações e fila de sincronização.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02480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14502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14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602480"/>
            <a:ext cx="283464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Papel na arquitetura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4602480"/>
            <a:ext cx="7799832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primária de dados em tempo real — a camada que possibilita o funcionamento 100% offline do sistema.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em Nuvem (Supabase / PostgreSQL)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utilizada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"formularios_avaliacao" no PostgreSQL, com datas de criação/atualização automáticas (trigger) e status controlado por tipo enumerado.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2492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3660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236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17436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Armazenamento e relacionamento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3660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complexos (informações gerais, necessidades, imagens, localização) em JSONB, com flexibilidade para evoluir sem migrações constantes; índices por status e data.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Armazenamento de arquivos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de Storage dedicados a anexos de formulários e a configurações de identidade visual da empresa.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2492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3660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4" name="Text 22"/>
          <p:cNvSpPr/>
          <p:nvPr/>
        </p:nvSpPr>
        <p:spPr>
          <a:xfrm>
            <a:off x="642366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17436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dos dados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3660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habilitada, com políticas específicas para leitura, inserção, atualização e exclusão restritas a usuários autenticados.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do Sistema — Design e Usabilidade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0" y="1645920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própria, em tema escuro nas cores verde e branco, alinhada à marca da Normatel Engenharia, com logo configurável.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16352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542032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Usabilidade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2542032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em etapas guiadas com progresso visível; campos condicionais que só exibem complexidade quando necessário; feedback por notificações e estados de carregamento.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438144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Responsividade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3438144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lateral recolhível no desktop, com tooltips, e menu deslizante dedicado para dispositivos móveis.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34256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608576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08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4334256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das telas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31920" y="4334256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consistente — Dashboard, Formulários (Novo e Histórico) e Administração (Usuários, Cargos, Configurações) — com biblioteca própria de componentes.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230368"/>
            <a:ext cx="11274552" cy="0"/>
          </a:xfrm>
          <a:prstGeom prst="line">
            <a:avLst/>
          </a:prstGeom>
          <a:noFill/>
          <a:ln w="9525">
            <a:solidFill>
              <a:srgbClr val="2232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504688"/>
            <a:ext cx="347472" cy="347472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504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5230368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Experiência do usuário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931920" y="5230368"/>
            <a:ext cx="7799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permanente de status de conexão e de pendências de sincronização, garantindo confiança mesmo em campo.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Indicadores e Visão Gerencial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Descrição geral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inicial com visão consolidada de todas as fichas técnicas, por usuário ou, para administradores, por projeto.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306824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e gráficos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06824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indicadores dinâmicos (Total, Pendentes, Em Análise, Aprovados, Reprovados) e gráfico de distribuição por status em anel.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156448" y="1572768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Outras funcionalidades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56448" y="1819656"/>
            <a:ext cx="3575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envios, formulários recentes, filtro por projeto para administradores e atalho para novo formulário.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274552" cy="3474720"/>
          </a:xfrm>
          <a:prstGeom prst="roundRect">
            <a:avLst>
              <a:gd name="adj" fmla="val 2105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pic>
        <p:nvPicPr>
          <p:cNvPr id="14" name="Image 0" descr="img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" y="3026664"/>
            <a:ext cx="10981944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 — Geração e Exportação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Geração de relatórios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ficha técnica pode ser exportada individualmente em PDF, diretamente da tela de detalhe, com um único clique.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2492" y="1600200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3660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236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17436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do relatório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3660" y="2295144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com a logo da Normatel, selo de status, dados gerais, necessidades selecionadas, apoio e observações, localização GPS, assinatura digital e grade de imagens, com paginação automática.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Nomeação e identificação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nomeado automaticamente com base no número da solicitação, facilitando organização e arquivamento.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2492" y="4014216"/>
            <a:ext cx="5509260" cy="2157984"/>
          </a:xfrm>
          <a:prstGeom prst="roundRect">
            <a:avLst>
              <a:gd name="adj" fmla="val 2966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3660" y="4197096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4" name="Text 22"/>
          <p:cNvSpPr/>
          <p:nvPr/>
        </p:nvSpPr>
        <p:spPr>
          <a:xfrm>
            <a:off x="642366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17436" y="4160520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Filtros e localização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3660" y="4709160"/>
            <a:ext cx="51069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filtros por responsável, local, status e projeto disponíveis no Histórico, para localizar rapidamente a ficha a ser exportada.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Diferenciais do Sistema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4650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169164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Funcionamento offline-first, com uso garantido em campo mesmo sem conectividade.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233172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automática assim que a conexão é restabelecida.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297180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inteligente com campos condicionais dinâmicos.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" y="361188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nativa de fotos, GPS e assinatura digital, sem ferramentas externas.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30682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425196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por papéis e cargos totalmente customizáveis.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94690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946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6112" y="489204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relatórios em PDF profissionais com um único clique.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58698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586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112" y="553212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configurável (white-label) e PWA instalável, com atualização automática.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OBTIDOS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Operacionais e Técnicos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09260" cy="4480560"/>
          </a:xfrm>
          <a:prstGeom prst="roundRect">
            <a:avLst>
              <a:gd name="adj" fmla="val 1429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operacionais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510692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integral do processo de avaliação técnica; eliminação de formulários em papel e planilhas paralelas; visibilidade em tempo real do status de cada solicitação.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2492" y="1600200"/>
            <a:ext cx="5509260" cy="4480560"/>
          </a:xfrm>
          <a:prstGeom prst="roundRect">
            <a:avLst>
              <a:gd name="adj" fmla="val 1429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3660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236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17436" y="1746504"/>
            <a:ext cx="4649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técnicos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3660" y="2295144"/>
            <a:ext cx="510692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offline-first que garante continuidade operacional em campo; sincronização automática e transparente; estrutura de dados flexível (JSONB) que acompanha a evolução do negócio.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OBTIDOS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Financeiros, de Segurança e Produtividade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587496" cy="4480560"/>
          </a:xfrm>
          <a:prstGeom prst="roundRect">
            <a:avLst>
              <a:gd name="adj" fmla="val 1784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2144" y="1746504"/>
            <a:ext cx="272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Financeiros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95144"/>
            <a:ext cx="318516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custos com impressão, deslocamentos por retrabalho e consolidação manual de dados.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00728" y="1600200"/>
            <a:ext cx="3587496" cy="4480560"/>
          </a:xfrm>
          <a:prstGeom prst="roundRect">
            <a:avLst>
              <a:gd name="adj" fmla="val 1784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1896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4501896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95672" y="1746504"/>
            <a:ext cx="272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1896" y="2295144"/>
            <a:ext cx="318516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rígido de acesso por papel e permissão, senhas protegidas por hashing com salt, e RLS no banco em nuvem.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44256" y="1600200"/>
            <a:ext cx="3587496" cy="4480560"/>
          </a:xfrm>
          <a:prstGeom prst="roundRect">
            <a:avLst>
              <a:gd name="adj" fmla="val 1784"/>
            </a:avLst>
          </a:prstGeom>
          <a:solidFill>
            <a:srgbClr val="131F19"/>
          </a:solidFill>
          <a:ln w="12700">
            <a:solidFill>
              <a:srgbClr val="2232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45424" y="1783080"/>
            <a:ext cx="365760" cy="365760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9" name="Text 17"/>
          <p:cNvSpPr/>
          <p:nvPr/>
        </p:nvSpPr>
        <p:spPr>
          <a:xfrm>
            <a:off x="8345424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39200" y="1746504"/>
            <a:ext cx="272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Produtividade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45424" y="2295144"/>
            <a:ext cx="318516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guiado e mais rápido, aprovação centralizada e geração instantânea de relatórios.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463040"/>
            <a:ext cx="2743200" cy="274320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EVOLUÇÕES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Possíveis Evoluções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4650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1691640"/>
            <a:ext cx="519836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auditoria e logs de atividade — a estrutura de permissões já contempla essa categoria.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3076" y="174650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1" name="Text 9"/>
          <p:cNvSpPr/>
          <p:nvPr/>
        </p:nvSpPr>
        <p:spPr>
          <a:xfrm>
            <a:off x="6323076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1988" y="1691640"/>
            <a:ext cx="496976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automático de relatórios por e-mail, complementando a exportação em PDF.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4002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40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3185160"/>
            <a:ext cx="519836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em lote de múltiplos formulários a partir do Histórico.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23076" y="324002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17" name="Text 15"/>
          <p:cNvSpPr/>
          <p:nvPr/>
        </p:nvSpPr>
        <p:spPr>
          <a:xfrm>
            <a:off x="6323076" y="3240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1988" y="3185160"/>
            <a:ext cx="496976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interativo na captura de localização GPS, para conferência visual.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73354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33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4678680"/>
            <a:ext cx="519836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indicadores com filtros por período (dia, semana, mês).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23076" y="4733544"/>
            <a:ext cx="292608" cy="292608"/>
          </a:xfrm>
          <a:prstGeom prst="ellipse">
            <a:avLst/>
          </a:prstGeom>
          <a:solidFill>
            <a:srgbClr val="2FA87E"/>
          </a:solidFill>
          <a:ln/>
        </p:spPr>
      </p:sp>
      <p:sp>
        <p:nvSpPr>
          <p:cNvPr id="23" name="Text 21"/>
          <p:cNvSpPr/>
          <p:nvPr/>
        </p:nvSpPr>
        <p:spPr>
          <a:xfrm>
            <a:off x="6323076" y="4733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61988" y="4678680"/>
            <a:ext cx="496976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em tempo real para administradores quando um formulário for enviado.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4206240"/>
            <a:ext cx="4572000" cy="4572000"/>
          </a:xfrm>
          <a:prstGeom prst="ellipse">
            <a:avLst/>
          </a:prstGeom>
          <a:solidFill>
            <a:srgbClr val="2FA87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645920"/>
            <a:ext cx="3291840" cy="3291840"/>
          </a:xfrm>
          <a:prstGeom prst="ellipse">
            <a:avLst/>
          </a:prstGeom>
          <a:solidFill>
            <a:srgbClr val="2FA87E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2FA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4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novo padrão de gestão técnica para a Normatel Engenharia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424160" cy="618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Gestão Integrada de Fichas Técnicas de Avaliação de Serviços consolida, em uma única plataforma robusta e segura, todo o ciclo de vida das avaliações técnicas da Normatel Engenharia — do preenchimento em campo à aprovação formal.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206001"/>
            <a:ext cx="10424160" cy="618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arquitetura offline-first assegura continuidade operacional em qualquer condição de conectividade, enquanto o controle de acesso baseado em papéis e permissões garante segurança e governança sobre os dados da empresa.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080281"/>
            <a:ext cx="10424160" cy="618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do que uma ferramenta de digitalização, o sistema representa um ganho estrutural de padronização, rastreabilidade e produtividade, posicionando a Normatel Engenharia com um processo de avaliação técnica moderno, confiável e escalável.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NORMATEL ENGENHARIA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83112" y="65288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2026-07-23T17:32:36Z</dcterms:created>
  <dcterms:modified xsi:type="dcterms:W3CDTF">2026-07-23T17:32:36Z</dcterms:modified>
</cp:coreProperties>
</file>